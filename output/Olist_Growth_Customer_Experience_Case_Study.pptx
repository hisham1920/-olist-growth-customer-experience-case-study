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6e2749bce4b4118" /><Relationship Type="http://schemas.openxmlformats.org/officeDocument/2006/relationships/extended-properties" Target="/docProps/app.xml" Id="R35b91caa10e1484f" /><Relationship Type="http://schemas.openxmlformats.org/officeDocument/2006/relationships/officeDocument" Target="/ppt/presentation.xml" Id="Ra2fa85baef7b4a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e5316a8532411d"/>
  </p:sldMasterIdLst>
  <p:notesMasterIdLst>
    <p:notesMasterId xmlns:r="http://schemas.openxmlformats.org/officeDocument/2006/relationships" r:id="R0067c347ed9248e4"/>
  </p:notesMasterIdLst>
  <p:sldIdLst>
    <p:sldId xmlns:r="http://schemas.openxmlformats.org/officeDocument/2006/relationships" id="256" r:id="Reefe1c0e0dfd4da7"/>
    <p:sldId xmlns:r="http://schemas.openxmlformats.org/officeDocument/2006/relationships" id="257" r:id="R3d928acfa89044c4"/>
    <p:sldId xmlns:r="http://schemas.openxmlformats.org/officeDocument/2006/relationships" id="258" r:id="R6e9a1499f6814d2c"/>
    <p:sldId xmlns:r="http://schemas.openxmlformats.org/officeDocument/2006/relationships" id="259" r:id="R771f5f79955144d3"/>
    <p:sldId xmlns:r="http://schemas.openxmlformats.org/officeDocument/2006/relationships" id="260" r:id="Rbc4418c835fd4b2e"/>
    <p:sldId xmlns:r="http://schemas.openxmlformats.org/officeDocument/2006/relationships" id="261" r:id="Rda040177f3784574"/>
    <p:sldId xmlns:r="http://schemas.openxmlformats.org/officeDocument/2006/relationships" id="262" r:id="Rc9be8c621b464daf"/>
    <p:sldId xmlns:r="http://schemas.openxmlformats.org/officeDocument/2006/relationships" id="263" r:id="R2513b66b46e24f5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e3522c0e9441b6" /><Relationship Type="http://schemas.openxmlformats.org/officeDocument/2006/relationships/slideMaster" Target="/ppt/slideMasters/slideMaster1.xml" Id="Rdbe5316a8532411d" /><Relationship Type="http://schemas.openxmlformats.org/officeDocument/2006/relationships/notesMaster" Target="/ppt/notesMasters/notesMaster1.xml" Id="R0067c347ed9248e4" /><Relationship Type="http://schemas.openxmlformats.org/officeDocument/2006/relationships/presProps" Target="/ppt/presProps.xml" Id="Re7f8dc36e73d4e96" /><Relationship Type="http://schemas.openxmlformats.org/officeDocument/2006/relationships/tableStyles" Target="/ppt/tableStyles.xml" Id="R1ca4fa3a55e34d41" /><Relationship Type="http://schemas.openxmlformats.org/officeDocument/2006/relationships/slide" Target="/ppt/slides/slide1.xml" Id="Reefe1c0e0dfd4da7" /><Relationship Type="http://schemas.openxmlformats.org/officeDocument/2006/relationships/slide" Target="/ppt/slides/slide2.xml" Id="R3d928acfa89044c4" /><Relationship Type="http://schemas.openxmlformats.org/officeDocument/2006/relationships/slide" Target="/ppt/slides/slide3.xml" Id="R6e9a1499f6814d2c" /><Relationship Type="http://schemas.openxmlformats.org/officeDocument/2006/relationships/slide" Target="/ppt/slides/slide4.xml" Id="R771f5f79955144d3" /><Relationship Type="http://schemas.openxmlformats.org/officeDocument/2006/relationships/slide" Target="/ppt/slides/slide5.xml" Id="Rbc4418c835fd4b2e" /><Relationship Type="http://schemas.openxmlformats.org/officeDocument/2006/relationships/slide" Target="/ppt/slides/slide6.xml" Id="Rda040177f3784574" /><Relationship Type="http://schemas.openxmlformats.org/officeDocument/2006/relationships/slide" Target="/ppt/slides/slide7.xml" Id="Rc9be8c621b464daf" /><Relationship Type="http://schemas.openxmlformats.org/officeDocument/2006/relationships/slide" Target="/ppt/slides/slide8.xml" Id="R2513b66b46e24f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4484e494a904c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96c7f197b940ed" /><Relationship Type="http://schemas.openxmlformats.org/officeDocument/2006/relationships/notesMaster" Target="/ppt/notesMasters/notesMaster1.xml" Id="Re096fb7b78d644e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6ad79ebc184023" /><Relationship Type="http://schemas.openxmlformats.org/officeDocument/2006/relationships/notesMaster" Target="/ppt/notesMasters/notesMaster1.xml" Id="R18f540df21fb43e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122897505a4a1f" /><Relationship Type="http://schemas.openxmlformats.org/officeDocument/2006/relationships/notesMaster" Target="/ppt/notesMasters/notesMaster1.xml" Id="R03c7cf6c5187421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1f34070ec254ec8" /><Relationship Type="http://schemas.openxmlformats.org/officeDocument/2006/relationships/notesMaster" Target="/ppt/notesMasters/notesMaster1.xml" Id="Rd3a557b85c8e429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24ec42a1be64ead" /><Relationship Type="http://schemas.openxmlformats.org/officeDocument/2006/relationships/notesMaster" Target="/ppt/notesMasters/notesMaster1.xml" Id="Ra889cc0ad3b24e4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75388a779104d74" /><Relationship Type="http://schemas.openxmlformats.org/officeDocument/2006/relationships/notesMaster" Target="/ppt/notesMasters/notesMaster1.xml" Id="R78973254a10d48e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f280b00e0ff4f8b" /><Relationship Type="http://schemas.openxmlformats.org/officeDocument/2006/relationships/notesMaster" Target="/ppt/notesMasters/notesMaster1.xml" Id="Rcf23b9037c1f409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74fe41c71d94db1" /><Relationship Type="http://schemas.openxmlformats.org/officeDocument/2006/relationships/notesMaster" Target="/ppt/notesMasters/notesMaster1.xml" Id="R13799203c7b644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Olist public dataset: https://www.kaggle.com/datasets/olistbr/brazilian-ecommerce</a:t>
            </a:r>
          </a:p>
          <a:p xmlns:a="http://schemas.openxmlformats.org/drawingml/2006/main">
            <a:r>
              <a:t>- Calculations: SQL and analysis workbook created from the uploaded nine-table dataset.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Olist public dataset: https://www.kaggle.com/datasets/olistbr/brazilian-ecommerce</a:t>
            </a:r>
          </a:p>
          <a:p xmlns:a="http://schemas.openxmlformats.org/drawingml/2006/main">
            <a:r>
              <a:t>- Calculations: SQL and analysis workbook created from the uploaded nine-table dataset.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Olist public dataset: https://www.kaggle.com/datasets/olistbr/brazilian-ecommerce</a:t>
            </a:r>
          </a:p>
          <a:p xmlns:a="http://schemas.openxmlformats.org/drawingml/2006/main">
            <a:r>
              <a:t>- Calculations: SQL and analysis workbook created from the uploaded nine-table dataset.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Olist public dataset: https://www.kaggle.com/datasets/olistbr/brazilian-ecommerce</a:t>
            </a:r>
          </a:p>
          <a:p xmlns:a="http://schemas.openxmlformats.org/drawingml/2006/main">
            <a:r>
              <a:t>- Calculations: SQL and analysis workbook created from the uploaded nine-table dataset.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Olist public dataset: https://www.kaggle.com/datasets/olistbr/brazilian-ecommerce</a:t>
            </a:r>
          </a:p>
          <a:p xmlns:a="http://schemas.openxmlformats.org/drawingml/2006/main">
            <a:r>
              <a:t>- Calculations: SQL and analysis workbook created from the uploaded nine-table dataset.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Olist public dataset: https://www.kaggle.com/datasets/olistbr/brazilian-ecommerce</a:t>
            </a:r>
          </a:p>
          <a:p xmlns:a="http://schemas.openxmlformats.org/drawingml/2006/main">
            <a:r>
              <a:t>- Calculations: SQL and analysis workbook created from the uploaded nine-table dataset.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Olist public dataset: https://www.kaggle.com/datasets/olistbr/brazilian-ecommerce</a:t>
            </a:r>
          </a:p>
          <a:p xmlns:a="http://schemas.openxmlformats.org/drawingml/2006/main">
            <a:r>
              <a:t>- Calculations: SQL and analysis workbook created from the uploaded nine-table dataset.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Olist public dataset: https://www.kaggle.com/datasets/olistbr/brazilian-ecommerce</a:t>
            </a:r>
          </a:p>
          <a:p xmlns:a="http://schemas.openxmlformats.org/drawingml/2006/main">
            <a:r>
              <a:t>- Calculations: SQL and analysis workbook created from the uploaded nine-table dataset.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293002c0ef47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cb9852fe10b475d" /><Relationship Type="http://schemas.openxmlformats.org/officeDocument/2006/relationships/slideLayout" Target="/ppt/slideLayouts/slideLayout1.xml" Id="Rb7b43daa4fb64f5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b43daa4fb64f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2778c4382346e5" /><Relationship Type="http://schemas.openxmlformats.org/officeDocument/2006/relationships/notesSlide" Target="/ppt/notesSlides/notesSlide1.xml" Id="R34d9540a528549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303e0c0ddd43a7" /><Relationship Type="http://schemas.openxmlformats.org/officeDocument/2006/relationships/notesSlide" Target="/ppt/notesSlides/notesSlide2.xml" Id="R59c0dddedace40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df34433d0143d2" /><Relationship Type="http://schemas.openxmlformats.org/officeDocument/2006/relationships/chart" Target="/ppt/slides/charts/chart1.xml" Id="R6c9c6e79c9c243dc" /><Relationship Type="http://schemas.openxmlformats.org/officeDocument/2006/relationships/notesSlide" Target="/ppt/notesSlides/notesSlide3.xml" Id="Re0b9400de29448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e2fc54ee364ec2" /><Relationship Type="http://schemas.openxmlformats.org/officeDocument/2006/relationships/notesSlide" Target="/ppt/notesSlides/notesSlide4.xml" Id="R6ad90c83e8c2439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3e663ea0b746dd" /><Relationship Type="http://schemas.openxmlformats.org/officeDocument/2006/relationships/chart" Target="/ppt/slides/charts/chart2.xml" Id="R670d3f44ab5e40c8" /><Relationship Type="http://schemas.openxmlformats.org/officeDocument/2006/relationships/notesSlide" Target="/ppt/notesSlides/notesSlide5.xml" Id="Rc1df4ce416ba484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e97e09025e4296" /><Relationship Type="http://schemas.openxmlformats.org/officeDocument/2006/relationships/notesSlide" Target="/ppt/notesSlides/notesSlide6.xml" Id="R78040ce208794d6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0e3038fa97484e" /><Relationship Type="http://schemas.openxmlformats.org/officeDocument/2006/relationships/notesSlide" Target="/ppt/notesSlides/notesSlide7.xml" Id="R151814c8a9024c0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c8252787c4423f" /><Relationship Type="http://schemas.openxmlformats.org/officeDocument/2006/relationships/notesSlide" Target="/ppt/notesSlides/notesSlide8.xml" Id="Rad4f6ca48b044dba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Average review</c:v>
          </c:tx>
          <c:spPr>
            <a:ln xmlns:a="http://schemas.openxmlformats.org/drawingml/2006/main" w="38100">
              <a:solidFill>
                <a:srgbClr val="3D8DFF"/>
              </a:solidFill>
              <a:prstDash val="solid"/>
            </a:ln>
          </c:spPr>
          <c:marker>
            <c:symbol val="circle"/>
            <c:size val="8"/>
          </c:marker>
          <c:cat>
            <c:strLit>
              <c:ptCount val="4"/>
              <c:pt idx="0">
                <c:v>On time / early</c:v>
              </c:pt>
              <c:pt idx="1">
                <c:v>1-3 days late</c:v>
              </c:pt>
              <c:pt idx="2">
                <c:v>4-7 days late</c:v>
              </c:pt>
              <c:pt idx="3">
                <c:v>8+ days late</c:v>
              </c:pt>
            </c:strLit>
          </c:cat>
          <c:val>
            <c:numLit>
              <c:formatCode>General</c:formatCode>
              <c:ptCount val="4"/>
              <c:pt idx="0">
                <c:v>4.29</c:v>
              </c:pt>
              <c:pt idx="1">
                <c:v>3.29</c:v>
              </c:pt>
              <c:pt idx="2">
                <c:v>2.1</c:v>
              </c:pt>
              <c:pt idx="3">
                <c:v>1.7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000000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Average review (1-5)</a:t>
                </a:r>
              </a:p>
            </c:rich>
          </c:tx>
        </c:title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GMV (R$M)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6"/>
              <c:pt idx="0">
                <c:v>watches gifts</c:v>
              </c:pt>
              <c:pt idx="1">
                <c:v>bed bath table</c:v>
              </c:pt>
              <c:pt idx="2">
                <c:v>computers accessories</c:v>
              </c:pt>
              <c:pt idx="3">
                <c:v>furniture decor</c:v>
              </c:pt>
              <c:pt idx="4">
                <c:v>auto</c:v>
              </c:pt>
              <c:pt idx="5">
                <c:v>baby</c:v>
              </c:pt>
            </c:strLit>
          </c:cat>
          <c:val>
            <c:numLit>
              <c:formatCode>General</c:formatCode>
              <c:ptCount val="6"/>
              <c:pt idx="0">
                <c:v>1.17</c:v>
              </c:pt>
              <c:pt idx="1">
                <c:v>1.02</c:v>
              </c:pt>
              <c:pt idx="2">
                <c:v>0.89</c:v>
              </c:pt>
              <c:pt idx="3">
                <c:v>0.71</c:v>
              </c:pt>
              <c:pt idx="4">
                <c:v>0.58</c:v>
              </c:pt>
              <c:pt idx="5">
                <c:v>0.4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0.00&quot;M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000000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000000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E957F35A-B635-442D-B755-77CBAB3C4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5695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SQL-BASED BUSINESS CASE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82DCE776-D693-4021-8B2A-57E44624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990600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Olist growth and customer experience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E213938D-C24C-402E-9C56-87F20C7CA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80010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How delivery reliability, seller risk and regional friction can support repeat growth</a:t>
            </a:r>
          </a:p>
        </p:txBody>
      </p:sp>
      <p:sp>
        <p:nvSpPr>
          <p:cNvPr id="4" name="author">
            <a:extLst xmlns:a="http://schemas.openxmlformats.org/drawingml/2006/main">
              <a:ext uri="{FF2B5EF4-FFF2-40B4-BE49-F238E27FC236}">
                <a16:creationId xmlns:a16="http://schemas.microsoft.com/office/drawing/2014/main" id="{EA2562E5-9B89-4ADD-BEF3-C9E281108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096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Hisham Siddiqui | MySQL • SQL • Business analysis</a:t>
            </a:r>
          </a:p>
        </p:txBody>
      </p:sp>
    </p:spTree>
    <p:extLst>
      <p:ext uri="{BB962C8B-B14F-4D97-AF65-F5344CB8AC3E}">
        <p14:creationId xmlns:p14="http://schemas.microsoft.com/office/powerpoint/2010/main" val="21403459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5621651-7CD5-48DD-BAFA-463C3D515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dataset points to a service-led growth opportunity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5A891123-1A3B-4E82-95B2-86A24BF4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38250"/>
            <a:ext cx="114014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analysis covers delivered marketplace orders and tests how logistics performance, sellers, geography and category mix relate to customer satisfaction and repeat behavior.</a:t>
            </a:r>
          </a:p>
        </p:txBody>
      </p:sp>
      <p:sp>
        <p:nvSpPr>
          <p:cNvPr id="3" name="metric-panel-1">
            <a:extLst xmlns:a="http://schemas.openxmlformats.org/drawingml/2006/main">
              <a:ext uri="{FF2B5EF4-FFF2-40B4-BE49-F238E27FC236}">
                <a16:creationId xmlns:a16="http://schemas.microsoft.com/office/drawing/2014/main" id="{DA39D9F6-B589-4AB1-ADE7-56EDE1D3A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19425"/>
            <a:ext cx="3571875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metric-stat-1">
            <a:extLst xmlns:a="http://schemas.openxmlformats.org/drawingml/2006/main">
              <a:ext uri="{FF2B5EF4-FFF2-40B4-BE49-F238E27FC236}">
                <a16:creationId xmlns:a16="http://schemas.microsoft.com/office/drawing/2014/main" id="{49B7830B-7B41-46DD-80F5-71832FCC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429000"/>
            <a:ext cx="2943225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96,470</a:t>
            </a:r>
          </a:p>
        </p:txBody>
      </p:sp>
      <p:sp>
        <p:nvSpPr>
          <p:cNvPr id="5" name="metric-body-1">
            <a:extLst xmlns:a="http://schemas.openxmlformats.org/drawingml/2006/main">
              <a:ext uri="{FF2B5EF4-FFF2-40B4-BE49-F238E27FC236}">
                <a16:creationId xmlns:a16="http://schemas.microsoft.com/office/drawing/2014/main" id="{A77595DB-067F-4684-9B75-F606842C6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905375"/>
            <a:ext cx="29432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Delivered orders with item records</a:t>
            </a:r>
          </a:p>
        </p:txBody>
      </p:sp>
      <p:sp>
        <p:nvSpPr>
          <p:cNvPr id="6" name="metric-panel-2">
            <a:extLst xmlns:a="http://schemas.openxmlformats.org/drawingml/2006/main">
              <a:ext uri="{FF2B5EF4-FFF2-40B4-BE49-F238E27FC236}">
                <a16:creationId xmlns:a16="http://schemas.microsoft.com/office/drawing/2014/main" id="{024EA9DA-22D2-402B-9BB6-A94327EF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019425"/>
            <a:ext cx="3571875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etric-stat-2">
            <a:extLst xmlns:a="http://schemas.openxmlformats.org/drawingml/2006/main">
              <a:ext uri="{FF2B5EF4-FFF2-40B4-BE49-F238E27FC236}">
                <a16:creationId xmlns:a16="http://schemas.microsoft.com/office/drawing/2014/main" id="{13733AFE-0B10-4DCC-B9DF-746736F4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429000"/>
            <a:ext cx="2943225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R$13.2M</a:t>
            </a:r>
          </a:p>
        </p:txBody>
      </p:sp>
      <p:sp>
        <p:nvSpPr>
          <p:cNvPr id="8" name="metric-body-2">
            <a:extLst xmlns:a="http://schemas.openxmlformats.org/drawingml/2006/main">
              <a:ext uri="{FF2B5EF4-FFF2-40B4-BE49-F238E27FC236}">
                <a16:creationId xmlns:a16="http://schemas.microsoft.com/office/drawing/2014/main" id="{4562A2FB-4827-4CF2-AD63-772DCFD5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905375"/>
            <a:ext cx="29432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Merchandise GMV; not company revenue</a:t>
            </a:r>
          </a:p>
        </p:txBody>
      </p:sp>
      <p:sp>
        <p:nvSpPr>
          <p:cNvPr id="9" name="metric-panel-3">
            <a:extLst xmlns:a="http://schemas.openxmlformats.org/drawingml/2006/main">
              <a:ext uri="{FF2B5EF4-FFF2-40B4-BE49-F238E27FC236}">
                <a16:creationId xmlns:a16="http://schemas.microsoft.com/office/drawing/2014/main" id="{A3E4633B-E490-42D2-8564-51E222B5A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19425"/>
            <a:ext cx="3571875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etric-stat-3">
            <a:extLst xmlns:a="http://schemas.openxmlformats.org/drawingml/2006/main">
              <a:ext uri="{FF2B5EF4-FFF2-40B4-BE49-F238E27FC236}">
                <a16:creationId xmlns:a16="http://schemas.microsoft.com/office/drawing/2014/main" id="{5C3B93A4-C940-427E-8C55-F08B46D3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29000"/>
            <a:ext cx="2943225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3.0%</a:t>
            </a:r>
          </a:p>
        </p:txBody>
      </p:sp>
      <p:sp>
        <p:nvSpPr>
          <p:cNvPr id="11" name="metric-body-3">
            <a:extLst xmlns:a="http://schemas.openxmlformats.org/drawingml/2006/main">
              <a:ext uri="{FF2B5EF4-FFF2-40B4-BE49-F238E27FC236}">
                <a16:creationId xmlns:a16="http://schemas.microsoft.com/office/drawing/2014/main" id="{B85B2036-EB4A-4A0E-B226-36C89B4C5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905375"/>
            <a:ext cx="29432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Customers with more than one delivered order</a:t>
            </a:r>
          </a:p>
        </p:txBody>
      </p:sp>
      <p:sp>
        <p:nvSpPr>
          <p:cNvPr id="12" name="secondary-kpis">
            <a:extLst xmlns:a="http://schemas.openxmlformats.org/drawingml/2006/main">
              <a:ext uri="{FF2B5EF4-FFF2-40B4-BE49-F238E27FC236}">
                <a16:creationId xmlns:a16="http://schemas.microsoft.com/office/drawing/2014/main" id="{AF7B1B47-0011-4C5A-A2A5-EA407755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571750"/>
            <a:ext cx="11401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44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444444"/>
                </a:solidFill>
                <a:latin typeface="Helvetica Neue"/>
                <a:ea typeface="Helvetica Neue"/>
                <a:cs typeface="Helvetica Neue"/>
              </a:rPr>
              <a:t>Supporting indicators: 6.8% late-delivery rate • 4.16/5 average review • 12.6-day average delivery cycle</a:t>
            </a:r>
          </a:p>
        </p:txBody>
      </p:sp>
      <p:sp>
        <p:nvSpPr>
          <p:cNvPr id="13" name="source-2">
            <a:extLst xmlns:a="http://schemas.openxmlformats.org/drawingml/2006/main">
              <a:ext uri="{FF2B5EF4-FFF2-40B4-BE49-F238E27FC236}">
                <a16:creationId xmlns:a16="http://schemas.microsoft.com/office/drawing/2014/main" id="{EC0161F0-81D9-4102-BC9E-404E3AF9C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4365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Source: Olist public dataset; analysis by Hisham Siddiqui</a:t>
            </a:r>
          </a:p>
        </p:txBody>
      </p:sp>
      <p:sp>
        <p:nvSpPr>
          <p:cNvPr id="14" name="page-2">
            <a:extLst xmlns:a="http://schemas.openxmlformats.org/drawingml/2006/main">
              <a:ext uri="{FF2B5EF4-FFF2-40B4-BE49-F238E27FC236}">
                <a16:creationId xmlns:a16="http://schemas.microsoft.com/office/drawing/2014/main" id="{07D2414D-5A28-468E-9FF4-D61D8E1E5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086082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23C5C65-B74C-4773-8691-13AE76C40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Customer satisfaction collapses as delivery delays lengthen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390525" y="1381125"/>
          <a:ext xmlns:a="http://schemas.openxmlformats.org/drawingml/2006/main" cx="5534025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c9c6e79c9c243dc"/>
          </a:graphicData>
        </a:graphic>
      </p:graphicFrame>
      <p:sp>
        <p:nvSpPr>
          <p:cNvPr id="3" name="delay-interpretation">
            <a:extLst xmlns:a="http://schemas.openxmlformats.org/drawingml/2006/main">
              <a:ext uri="{FF2B5EF4-FFF2-40B4-BE49-F238E27FC236}">
                <a16:creationId xmlns:a16="http://schemas.microsoft.com/office/drawing/2014/main" id="{7E485AC6-1BAB-46A8-A69F-5ABAA9E2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619250"/>
            <a:ext cx="55435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Delivery reliability is the strongest observed experience signal. The relationship is monotonic: each delay bucket corresponds with a lower average review and a higher share of 1-2 ratings.</a:t>
            </a:r>
          </a:p>
        </p:txBody>
      </p:sp>
      <p:sp>
        <p:nvSpPr>
          <p:cNvPr id="4" name="delay-card-1">
            <a:extLst xmlns:a="http://schemas.openxmlformats.org/drawingml/2006/main">
              <a:ext uri="{FF2B5EF4-FFF2-40B4-BE49-F238E27FC236}">
                <a16:creationId xmlns:a16="http://schemas.microsoft.com/office/drawing/2014/main" id="{6954D034-6949-40E2-B0FB-747FF87D6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62325"/>
            <a:ext cx="2581275" cy="2657475"/>
          </a:xfrm>
          <a:prstGeom xmlns:a="http://schemas.openxmlformats.org/drawingml/2006/main" prst="roundRect">
            <a:avLst>
              <a:gd name="adj" fmla="val 295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elay-stat-1">
            <a:extLst xmlns:a="http://schemas.openxmlformats.org/drawingml/2006/main">
              <a:ext uri="{FF2B5EF4-FFF2-40B4-BE49-F238E27FC236}">
                <a16:creationId xmlns:a16="http://schemas.microsoft.com/office/drawing/2014/main" id="{B7585D96-9667-40AF-995B-50D79FF0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581400"/>
            <a:ext cx="21336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C62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 i="0">
                <a:solidFill>
                  <a:srgbClr val="C62828"/>
                </a:solidFill>
                <a:latin typeface="Helvetica Neue"/>
                <a:ea typeface="Helvetica Neue"/>
                <a:cs typeface="Helvetica Neue"/>
              </a:rPr>
              <a:t>−2.59 pts</a:t>
            </a:r>
          </a:p>
        </p:txBody>
      </p:sp>
      <p:sp>
        <p:nvSpPr>
          <p:cNvPr id="6" name="delay-body-1">
            <a:extLst xmlns:a="http://schemas.openxmlformats.org/drawingml/2006/main">
              <a:ext uri="{FF2B5EF4-FFF2-40B4-BE49-F238E27FC236}">
                <a16:creationId xmlns:a16="http://schemas.microsoft.com/office/drawing/2014/main" id="{6C853B0E-4D67-45FE-8DD6-2C99727A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72050"/>
            <a:ext cx="20669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Review gap: on-time versus 8+ days late</a:t>
            </a:r>
          </a:p>
        </p:txBody>
      </p:sp>
      <p:sp>
        <p:nvSpPr>
          <p:cNvPr id="7" name="delay-card-2">
            <a:extLst xmlns:a="http://schemas.openxmlformats.org/drawingml/2006/main">
              <a:ext uri="{FF2B5EF4-FFF2-40B4-BE49-F238E27FC236}">
                <a16:creationId xmlns:a16="http://schemas.microsoft.com/office/drawing/2014/main" id="{F51E42CC-C0CF-40B0-9160-5C74778B7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362325"/>
            <a:ext cx="2581275" cy="2657475"/>
          </a:xfrm>
          <a:prstGeom xmlns:a="http://schemas.openxmlformats.org/drawingml/2006/main" prst="roundRect">
            <a:avLst>
              <a:gd name="adj" fmla="val 295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lay-stat-2">
            <a:extLst xmlns:a="http://schemas.openxmlformats.org/drawingml/2006/main">
              <a:ext uri="{FF2B5EF4-FFF2-40B4-BE49-F238E27FC236}">
                <a16:creationId xmlns:a16="http://schemas.microsoft.com/office/drawing/2014/main" id="{1EE6C429-E19D-4C24-A951-9DC892CC7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581400"/>
            <a:ext cx="21336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C62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C62828"/>
                </a:solidFill>
                <a:latin typeface="Helvetica Neue"/>
                <a:ea typeface="Helvetica Neue"/>
                <a:cs typeface="Helvetica Neue"/>
              </a:rPr>
              <a:t>8.4×</a:t>
            </a:r>
          </a:p>
        </p:txBody>
      </p:sp>
      <p:sp>
        <p:nvSpPr>
          <p:cNvPr id="9" name="delay-body-2">
            <a:extLst xmlns:a="http://schemas.openxmlformats.org/drawingml/2006/main">
              <a:ext uri="{FF2B5EF4-FFF2-40B4-BE49-F238E27FC236}">
                <a16:creationId xmlns:a16="http://schemas.microsoft.com/office/drawing/2014/main" id="{67AA133A-A62B-40B1-AE48-1F338952C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972050"/>
            <a:ext cx="20669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Higher low-review risk at 8+ days late</a:t>
            </a:r>
          </a:p>
        </p:txBody>
      </p:sp>
      <p:sp>
        <p:nvSpPr>
          <p:cNvPr id="10" name="source-3">
            <a:extLst xmlns:a="http://schemas.openxmlformats.org/drawingml/2006/main">
              <a:ext uri="{FF2B5EF4-FFF2-40B4-BE49-F238E27FC236}">
                <a16:creationId xmlns:a16="http://schemas.microsoft.com/office/drawing/2014/main" id="{89C8AE84-0FA3-4156-9CE8-2565780E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4365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Source: Olist public dataset; analysis by Hisham Siddiqui</a:t>
            </a:r>
          </a:p>
        </p:txBody>
      </p:sp>
      <p:sp>
        <p:nvSpPr>
          <p:cNvPr id="11" name="page-3">
            <a:extLst xmlns:a="http://schemas.openxmlformats.org/drawingml/2006/main">
              <a:ext uri="{FF2B5EF4-FFF2-40B4-BE49-F238E27FC236}">
                <a16:creationId xmlns:a16="http://schemas.microsoft.com/office/drawing/2014/main" id="{E9ECC2F4-D912-4E22-924B-58357B0A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575955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A90E650-E88F-49C3-8C1C-FA8FA4309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19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small group of states combines high freight burden with weaker service</a:t>
            </a:r>
          </a:p>
        </p:txBody>
      </p:sp>
      <p:sp>
        <p:nvSpPr>
          <p:cNvPr id="2" name="regional-subtitle">
            <a:extLst xmlns:a="http://schemas.openxmlformats.org/drawingml/2006/main">
              <a:ext uri="{FF2B5EF4-FFF2-40B4-BE49-F238E27FC236}">
                <a16:creationId xmlns:a16="http://schemas.microsoft.com/office/drawing/2014/main" id="{CDF19CAA-6080-4A46-8D38-F907D5B3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95375"/>
            <a:ext cx="114014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Among states with at least 500 delivered orders, MA is the clearest priority: the highest freight burden, the highest late rate and the lowest review score in this comparison.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390525" y="2247900"/>
          <a:ext xmlns:a="http://schemas.openxmlformats.org/drawingml/2006/main" cx="11401425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2095500"/>
                <a:gridCol w="2381250"/>
                <a:gridCol w="2286000"/>
                <a:gridCol w="2352675"/>
              </a:tblGrid>
              <a:tr h="530679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State</a:t>
                      </a:r>
                    </a:p>
                  </a:txBody>
                  <a:tcPr marL="91440" marR="91440" marT="45720" marB="4572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Orders</a:t>
                      </a:r>
                    </a:p>
                  </a:txBody>
                  <a:tcPr marL="91440" marR="91440" marT="45720" marB="4572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Freight burden</a:t>
                      </a:r>
                    </a:p>
                  </a:txBody>
                  <a:tcPr marL="91440" marR="91440" marT="45720" marB="4572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Late-delivery rate</a:t>
                      </a:r>
                    </a:p>
                  </a:txBody>
                  <a:tcPr marL="91440" marR="91440" marT="45720" marB="4572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Average review</a:t>
                      </a:r>
                    </a:p>
                  </a:txBody>
                  <a:tcPr marL="91440" marR="91440" marT="45720" marB="45720" anchor="ctr">
                    <a:solidFill>
                      <a:srgbClr val="000000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</a:rPr>
                        <a:t>MA</a:t>
                      </a:r>
                    </a:p>
                  </a:txBody>
                  <a:tcPr marL="91440" marR="91440" marT="45720" marB="45720" anchor="ctr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</a:rPr>
                        <a:t>717</a:t>
                      </a:r>
                    </a:p>
                  </a:txBody>
                  <a:tcPr marL="91440" marR="91440" marT="45720" marB="45720" anchor="ctr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</a:rPr>
                        <a:t>20.8%</a:t>
                      </a:r>
                    </a:p>
                  </a:txBody>
                  <a:tcPr marL="91440" marR="91440" marT="45720" marB="45720" anchor="ctr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</a:rPr>
                        <a:t>17.4%</a:t>
                      </a:r>
                    </a:p>
                  </a:txBody>
                  <a:tcPr marL="91440" marR="91440" marT="45720" marB="45720" anchor="ctr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</a:rPr>
                        <a:t>3.83</a:t>
                      </a:r>
                    </a:p>
                  </a:txBody>
                  <a:tcPr marL="91440" marR="91440" marT="45720" marB="45720" anchor="ctr">
                    <a:solidFill>
                      <a:srgbClr val="D0EDFA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PE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1,593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18.5%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9.6%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4.08</a:t>
                      </a:r>
                    </a:p>
                  </a:txBody>
                  <a:tcPr marL="91440" marR="91440" marT="45720" marB="45720" anchor="ctr"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PB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517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18.3%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10.4%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4.08</a:t>
                      </a:r>
                    </a:p>
                  </a:txBody>
                  <a:tcPr marL="91440" marR="91440" marT="45720" marB="45720" anchor="ctr"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PA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946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17.7%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11.2%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3.91</a:t>
                      </a:r>
                    </a:p>
                  </a:txBody>
                  <a:tcPr marL="91440" marR="91440" marT="45720" marB="45720" anchor="ctr"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CE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1,279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17.5%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13.8%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3.94</a:t>
                      </a:r>
                    </a:p>
                  </a:txBody>
                  <a:tcPr marL="91440" marR="91440" marT="45720" marB="45720" anchor="ctr"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BA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3,256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16.5%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12.2%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3.93</a:t>
                      </a:r>
                    </a:p>
                  </a:txBody>
                  <a:tcPr marL="91440" marR="91440" marT="45720" marB="45720" anchor="ctr"/>
                </a:tc>
              </a:tr>
            </a:tbl>
          </a:graphicData>
        </a:graphic>
      </p:graphicFrame>
      <p:sp>
        <p:nvSpPr>
          <p:cNvPr id="4" name="source-4">
            <a:extLst xmlns:a="http://schemas.openxmlformats.org/drawingml/2006/main">
              <a:ext uri="{FF2B5EF4-FFF2-40B4-BE49-F238E27FC236}">
                <a16:creationId xmlns:a16="http://schemas.microsoft.com/office/drawing/2014/main" id="{1F0A6B78-8754-40F2-815C-5F4EC13F1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4365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Source: Olist public dataset; analysis by Hisham Siddiqui</a:t>
            </a:r>
          </a:p>
        </p:txBody>
      </p:sp>
      <p:sp>
        <p:nvSpPr>
          <p:cNvPr id="5" name="page-4">
            <a:extLst xmlns:a="http://schemas.openxmlformats.org/drawingml/2006/main">
              <a:ext uri="{FF2B5EF4-FFF2-40B4-BE49-F238E27FC236}">
                <a16:creationId xmlns:a16="http://schemas.microsoft.com/office/drawing/2014/main" id="{3C4450BC-5A39-481D-8F65-1F3D2D8F9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6698084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E650ADF-B92E-4C4B-9A58-7D711BE0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Six scaled categories fall below the overall customer rating</a:t>
            </a:r>
          </a:p>
        </p:txBody>
      </p:sp>
      <p:sp>
        <p:nvSpPr>
          <p:cNvPr id="2" name="category-chart-frame">
            <a:extLst xmlns:a="http://schemas.openxmlformats.org/drawingml/2006/main">
              <a:ext uri="{FF2B5EF4-FFF2-40B4-BE49-F238E27FC236}">
                <a16:creationId xmlns:a16="http://schemas.microsoft.com/office/drawing/2014/main" id="{31CA6FE4-8154-4815-83C5-47C5ABD66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38225"/>
            <a:ext cx="5524500" cy="5143500"/>
          </a:xfrm>
          <a:prstGeom xmlns:a="http://schemas.openxmlformats.org/drawingml/2006/main" prst="roundRect">
            <a:avLst>
              <a:gd name="adj" fmla="val 1481"/>
            </a:avLst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38175" y="1381125"/>
          <a:ext xmlns:a="http://schemas.openxmlformats.org/drawingml/2006/main" cx="5029200" cy="4400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70d3f44ab5e40c8"/>
          </a:graphicData>
        </a:graphic>
      </p:graphicFrame>
      <p:sp>
        <p:nvSpPr>
          <p:cNvPr id="4" name="category-story">
            <a:extLst xmlns:a="http://schemas.openxmlformats.org/drawingml/2006/main">
              <a:ext uri="{FF2B5EF4-FFF2-40B4-BE49-F238E27FC236}">
                <a16:creationId xmlns:a16="http://schemas.microsoft.com/office/drawing/2014/main" id="{20C4B3B9-9E22-4152-A3F4-60E6BA79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714500"/>
            <a:ext cx="5334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opportunity is not to chase every weak category. Start where scale and experience gaps overlap. Bed &amp; bath alone represents R$1.02M in GMV across 9,272 orders, with a 4.00/5 average review.</a:t>
            </a:r>
          </a:p>
        </p:txBody>
      </p:sp>
      <p:sp>
        <p:nvSpPr>
          <p:cNvPr id="5" name="category-stat-1">
            <a:extLst xmlns:a="http://schemas.openxmlformats.org/drawingml/2006/main">
              <a:ext uri="{FF2B5EF4-FFF2-40B4-BE49-F238E27FC236}">
                <a16:creationId xmlns:a16="http://schemas.microsoft.com/office/drawing/2014/main" id="{CE3E86BA-89CA-49CC-A83F-309AF00A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76700"/>
            <a:ext cx="2133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62.4%</a:t>
            </a:r>
          </a:p>
        </p:txBody>
      </p:sp>
      <p:sp>
        <p:nvSpPr>
          <p:cNvPr id="6" name="category-body-1">
            <a:extLst xmlns:a="http://schemas.openxmlformats.org/drawingml/2006/main">
              <a:ext uri="{FF2B5EF4-FFF2-40B4-BE49-F238E27FC236}">
                <a16:creationId xmlns:a16="http://schemas.microsoft.com/office/drawing/2014/main" id="{60D9AB82-5D62-49A2-84AE-B1908C27D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067300"/>
            <a:ext cx="20669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Top-10 category share of merchandise GMV</a:t>
            </a:r>
          </a:p>
        </p:txBody>
      </p:sp>
      <p:sp>
        <p:nvSpPr>
          <p:cNvPr id="7" name="category-stat-2">
            <a:extLst xmlns:a="http://schemas.openxmlformats.org/drawingml/2006/main">
              <a:ext uri="{FF2B5EF4-FFF2-40B4-BE49-F238E27FC236}">
                <a16:creationId xmlns:a16="http://schemas.microsoft.com/office/drawing/2014/main" id="{0AE15AD7-269D-4957-AC5B-A108573BA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076700"/>
            <a:ext cx="2133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C62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 i="0">
                <a:solidFill>
                  <a:srgbClr val="C62828"/>
                </a:solidFill>
                <a:latin typeface="Helvetica Neue"/>
                <a:ea typeface="Helvetica Neue"/>
                <a:cs typeface="Helvetica Neue"/>
              </a:rPr>
              <a:t>3.64/5</a:t>
            </a:r>
          </a:p>
        </p:txBody>
      </p:sp>
      <p:sp>
        <p:nvSpPr>
          <p:cNvPr id="8" name="category-body-2">
            <a:extLst xmlns:a="http://schemas.openxmlformats.org/drawingml/2006/main">
              <a:ext uri="{FF2B5EF4-FFF2-40B4-BE49-F238E27FC236}">
                <a16:creationId xmlns:a16="http://schemas.microsoft.com/office/drawing/2014/main" id="{3E349D4C-CCFD-4429-93E8-A5A3EB20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067300"/>
            <a:ext cx="20669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Office-furniture average review</a:t>
            </a:r>
          </a:p>
        </p:txBody>
      </p:sp>
      <p:sp>
        <p:nvSpPr>
          <p:cNvPr id="9" name="source-5">
            <a:extLst xmlns:a="http://schemas.openxmlformats.org/drawingml/2006/main">
              <a:ext uri="{FF2B5EF4-FFF2-40B4-BE49-F238E27FC236}">
                <a16:creationId xmlns:a16="http://schemas.microsoft.com/office/drawing/2014/main" id="{E7B841FB-8299-4DB9-9E57-7ED244DB8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4365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Source: Olist public dataset; analysis by Hisham Siddiqui</a:t>
            </a:r>
          </a:p>
        </p:txBody>
      </p:sp>
      <p:sp>
        <p:nvSpPr>
          <p:cNvPr id="10" name="page-5">
            <a:extLst xmlns:a="http://schemas.openxmlformats.org/drawingml/2006/main">
              <a:ext uri="{FF2B5EF4-FFF2-40B4-BE49-F238E27FC236}">
                <a16:creationId xmlns:a16="http://schemas.microsoft.com/office/drawing/2014/main" id="{CE621738-E2B7-4A00-893F-0BB76366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0156395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1B33412-8517-4D46-A00A-7D5279082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58 scaled sellers warrant targeted operational investigation</a:t>
            </a:r>
          </a:p>
        </p:txBody>
      </p:sp>
      <p:sp>
        <p:nvSpPr>
          <p:cNvPr id="2" name="seller-subtitle">
            <a:extLst xmlns:a="http://schemas.openxmlformats.org/drawingml/2006/main">
              <a:ext uri="{FF2B5EF4-FFF2-40B4-BE49-F238E27FC236}">
                <a16:creationId xmlns:a16="http://schemas.microsoft.com/office/drawing/2014/main" id="{106EFA22-1915-43A8-8842-967739031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95375"/>
            <a:ext cx="114014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screen flags sellers with at least 100 delivered orders whose delay and low-review rates both exceed the portfolio benchmarks. It prioritizes action without assigning sole causality.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390525" y="2133600"/>
          <a:ext xmlns:a="http://schemas.openxmlformats.org/drawingml/2006/main" cx="7667625" cy="3733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904875"/>
                <a:gridCol w="1095375"/>
                <a:gridCol w="1285875"/>
                <a:gridCol w="1476375"/>
                <a:gridCol w="1190625"/>
              </a:tblGrid>
              <a:tr h="5334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Seller</a:t>
                      </a:r>
                    </a:p>
                  </a:txBody>
                  <a:tcPr marL="91440" marR="91440" marT="45720" marB="4572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State</a:t>
                      </a:r>
                    </a:p>
                  </a:txBody>
                  <a:tcPr marL="91440" marR="91440" marT="45720" marB="4572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Orders</a:t>
                      </a:r>
                    </a:p>
                  </a:txBody>
                  <a:tcPr marL="91440" marR="91440" marT="45720" marB="4572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Late rate</a:t>
                      </a:r>
                    </a:p>
                  </a:txBody>
                  <a:tcPr marL="91440" marR="91440" marT="45720" marB="4572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Low-review rate</a:t>
                      </a:r>
                    </a:p>
                  </a:txBody>
                  <a:tcPr marL="91440" marR="91440" marT="45720" marB="4572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Low reviews</a:t>
                      </a:r>
                    </a:p>
                  </a:txBody>
                  <a:tcPr marL="91440" marR="91440" marT="45720" marB="45720" anchor="ctr">
                    <a:solidFill>
                      <a:srgbClr val="00000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</a:rPr>
                        <a:t>4a3ca931…</a:t>
                      </a:r>
                    </a:p>
                  </a:txBody>
                  <a:tcPr marL="91440" marR="91440" marT="45720" marB="45720" anchor="ctr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</a:rPr>
                        <a:t>SP</a:t>
                      </a:r>
                    </a:p>
                  </a:txBody>
                  <a:tcPr marL="91440" marR="91440" marT="45720" marB="45720" anchor="ctr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</a:rPr>
                        <a:t>1,772</a:t>
                      </a:r>
                    </a:p>
                  </a:txBody>
                  <a:tcPr marL="91440" marR="91440" marT="45720" marB="45720" anchor="ctr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</a:rPr>
                        <a:t>9.7%</a:t>
                      </a:r>
                    </a:p>
                  </a:txBody>
                  <a:tcPr marL="91440" marR="91440" marT="45720" marB="45720" anchor="ctr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</a:rPr>
                        <a:t>18.3%</a:t>
                      </a:r>
                    </a:p>
                  </a:txBody>
                  <a:tcPr marL="91440" marR="91440" marT="45720" marB="45720" anchor="ctr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</a:rPr>
                        <a:t>324</a:t>
                      </a:r>
                    </a:p>
                  </a:txBody>
                  <a:tcPr marL="91440" marR="91440" marT="45720" marB="45720" anchor="ctr">
                    <a:solidFill>
                      <a:srgbClr val="D0EDF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7c67e144…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SP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973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25.3%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246</a:t>
                      </a:r>
                    </a:p>
                  </a:txBody>
                  <a:tcPr marL="91440" marR="91440" marT="45720" marB="45720" anchor="ctr"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1f50f920…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SP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1,399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8.9%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13.9%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195</a:t>
                      </a:r>
                    </a:p>
                  </a:txBody>
                  <a:tcPr marL="91440" marR="91440" marT="45720" marB="45720" anchor="ctr"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ea8482cd…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SP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1,132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8.5%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14.5%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164</a:t>
                      </a:r>
                    </a:p>
                  </a:txBody>
                  <a:tcPr marL="91440" marR="91440" marT="45720" marB="45720" anchor="ctr"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1025f0e2…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SP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910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7.9%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16.8%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153</a:t>
                      </a:r>
                    </a:p>
                  </a:txBody>
                  <a:tcPr marL="91440" marR="91440" marT="45720" marB="45720" anchor="ctr"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4869f7a5…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SP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1,124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10.5%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13.0%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146</a:t>
                      </a:r>
                    </a:p>
                  </a:txBody>
                  <a:tcPr marL="91440" marR="91440" marT="45720" marB="45720" anchor="ctr"/>
                </a:tc>
              </a:tr>
            </a:tbl>
          </a:graphicData>
        </a:graphic>
      </p:graphicFrame>
      <p:sp>
        <p:nvSpPr>
          <p:cNvPr id="4" name="seller-rule-title">
            <a:extLst xmlns:a="http://schemas.openxmlformats.org/drawingml/2006/main">
              <a:ext uri="{FF2B5EF4-FFF2-40B4-BE49-F238E27FC236}">
                <a16:creationId xmlns:a16="http://schemas.microsoft.com/office/drawing/2014/main" id="{0EDB7924-CA2E-43E4-93E5-DA785BAF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526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Transparent decision rule</a:t>
            </a:r>
          </a:p>
        </p:txBody>
      </p:sp>
      <p:sp>
        <p:nvSpPr>
          <p:cNvPr id="5" name="seller-rule">
            <a:extLst xmlns:a="http://schemas.openxmlformats.org/drawingml/2006/main">
              <a:ext uri="{FF2B5EF4-FFF2-40B4-BE49-F238E27FC236}">
                <a16:creationId xmlns:a16="http://schemas.microsoft.com/office/drawing/2014/main" id="{DA11D0AC-F2BB-4AB5-B2F2-DF3AC029B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90825"/>
            <a:ext cx="314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≥100 delivered orders</a:t>
            </a:r>
          </a:p>
          <a:p xmlns:a="http://schemas.openxmlformats.org/drawingml/2006/main">
            <a:pPr algn="l">
              <a:defRPr sz="1500" b="0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Late rate &gt; 6.8%</a:t>
            </a:r>
          </a:p>
          <a:p xmlns:a="http://schemas.openxmlformats.org/drawingml/2006/main">
            <a:pPr algn="l">
              <a:defRPr sz="1500" b="0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Low-review rate &gt; 12.7%</a:t>
            </a:r>
          </a:p>
        </p:txBody>
      </p:sp>
      <p:sp>
        <p:nvSpPr>
          <p:cNvPr id="6" name="seller-stat-1">
            <a:extLst xmlns:a="http://schemas.openxmlformats.org/drawingml/2006/main">
              <a:ext uri="{FF2B5EF4-FFF2-40B4-BE49-F238E27FC236}">
                <a16:creationId xmlns:a16="http://schemas.microsoft.com/office/drawing/2014/main" id="{CE4EB5BB-E1F2-4B32-9CBB-7C1B53CBD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33875"/>
            <a:ext cx="1381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C62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C62828"/>
                </a:solidFill>
                <a:latin typeface="Helvetica Neue"/>
                <a:ea typeface="Helvetica Neue"/>
                <a:cs typeface="Helvetica Neue"/>
              </a:rPr>
              <a:t>3,466</a:t>
            </a:r>
          </a:p>
        </p:txBody>
      </p:sp>
      <p:sp>
        <p:nvSpPr>
          <p:cNvPr id="7" name="seller-stat-1-body">
            <a:extLst xmlns:a="http://schemas.openxmlformats.org/drawingml/2006/main">
              <a:ext uri="{FF2B5EF4-FFF2-40B4-BE49-F238E27FC236}">
                <a16:creationId xmlns:a16="http://schemas.microsoft.com/office/drawing/2014/main" id="{D3A3C2C8-DDC8-4717-BB24-83698FD6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095875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Low-review seller-order records linked to the flagged group</a:t>
            </a:r>
          </a:p>
        </p:txBody>
      </p:sp>
      <p:sp>
        <p:nvSpPr>
          <p:cNvPr id="8" name="source-6">
            <a:extLst xmlns:a="http://schemas.openxmlformats.org/drawingml/2006/main">
              <a:ext uri="{FF2B5EF4-FFF2-40B4-BE49-F238E27FC236}">
                <a16:creationId xmlns:a16="http://schemas.microsoft.com/office/drawing/2014/main" id="{92F1B79E-6068-48C6-AAAB-4998EA643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4365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Source: Olist public dataset; analysis by Hisham Siddiqui</a:t>
            </a:r>
          </a:p>
        </p:txBody>
      </p:sp>
      <p:sp>
        <p:nvSpPr>
          <p:cNvPr id="9" name="page-6">
            <a:extLst xmlns:a="http://schemas.openxmlformats.org/drawingml/2006/main">
              <a:ext uri="{FF2B5EF4-FFF2-40B4-BE49-F238E27FC236}">
                <a16:creationId xmlns:a16="http://schemas.microsoft.com/office/drawing/2014/main" id="{40E559ED-C14A-46F0-84F5-BD338EFEB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8892565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F2E5198-CF3B-4D31-8BDF-12BFB6E4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104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Sequence the response: control delays, fix friction, then build retention</a:t>
            </a:r>
          </a:p>
        </p:txBody>
      </p:sp>
      <p:cxnSp>
        <p:nvCxnSpPr>
          <p:cNvPr id="21" name="recommendation-line"/>
          <p:cNvCxnSpPr/>
          <p:nvPr/>
        </p:nvCxnSpPr>
        <p:spPr>
          <a:xfrm xmlns:a="http://schemas.openxmlformats.org/drawingml/2006/main">
            <a:off x="333375" y="5343525"/>
            <a:ext cx="114681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rec-panel-1">
            <a:extLst xmlns:a="http://schemas.openxmlformats.org/drawingml/2006/main">
              <a:ext uri="{FF2B5EF4-FFF2-40B4-BE49-F238E27FC236}">
                <a16:creationId xmlns:a16="http://schemas.microsoft.com/office/drawing/2014/main" id="{4115BC4E-6E06-4ACC-A689-4187EF5F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00175"/>
            <a:ext cx="3571875" cy="3619500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ec-title-1">
            <a:extLst xmlns:a="http://schemas.openxmlformats.org/drawingml/2006/main">
              <a:ext uri="{FF2B5EF4-FFF2-40B4-BE49-F238E27FC236}">
                <a16:creationId xmlns:a16="http://schemas.microsoft.com/office/drawing/2014/main" id="{31FF45ED-44F1-43BE-AA01-D494D305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90700"/>
            <a:ext cx="295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delivery exceptions</a:t>
            </a:r>
          </a:p>
        </p:txBody>
      </p:sp>
      <p:sp>
        <p:nvSpPr>
          <p:cNvPr id="5" name="rec-body-1">
            <a:extLst xmlns:a="http://schemas.openxmlformats.org/drawingml/2006/main">
              <a:ext uri="{FF2B5EF4-FFF2-40B4-BE49-F238E27FC236}">
                <a16:creationId xmlns:a16="http://schemas.microsoft.com/office/drawing/2014/main" id="{D005258D-03E8-4831-9061-4119BF23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714625"/>
            <a:ext cx="2952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Alert teams before promised dates are breached</a:t>
            </a:r>
          </a:p>
          <a:p xmlns:a="http://schemas.openxmlformats.org/drawingml/2006/main">
            <a:pPr algn="l">
              <a:defRPr sz="1350" b="0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Review seller and carrier SLA performance</a:t>
            </a:r>
          </a:p>
          <a:p xmlns:a="http://schemas.openxmlformats.org/drawingml/2006/main">
            <a:pPr algn="l">
              <a:defRPr sz="1350" b="0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Trigger proactive customer communication</a:t>
            </a:r>
          </a:p>
        </p:txBody>
      </p:sp>
      <p:sp>
        <p:nvSpPr>
          <p:cNvPr id="6" name="rec-dot-1">
            <a:extLst xmlns:a="http://schemas.openxmlformats.org/drawingml/2006/main">
              <a:ext uri="{FF2B5EF4-FFF2-40B4-BE49-F238E27FC236}">
                <a16:creationId xmlns:a16="http://schemas.microsoft.com/office/drawing/2014/main" id="{7FEABB39-2E72-45DB-A4BC-9C9C53CD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52863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rec-label-1">
            <a:extLst xmlns:a="http://schemas.openxmlformats.org/drawingml/2006/main">
              <a:ext uri="{FF2B5EF4-FFF2-40B4-BE49-F238E27FC236}">
                <a16:creationId xmlns:a16="http://schemas.microsoft.com/office/drawing/2014/main" id="{7ABBC9D9-4B47-4B95-834A-EE02A321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600700"/>
            <a:ext cx="26003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NOW</a:t>
            </a:r>
          </a:p>
        </p:txBody>
      </p:sp>
      <p:sp>
        <p:nvSpPr>
          <p:cNvPr id="8" name="rec-panel-2">
            <a:extLst xmlns:a="http://schemas.openxmlformats.org/drawingml/2006/main">
              <a:ext uri="{FF2B5EF4-FFF2-40B4-BE49-F238E27FC236}">
                <a16:creationId xmlns:a16="http://schemas.microsoft.com/office/drawing/2014/main" id="{16E50DBF-F68F-4937-B106-C72E499D0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400175"/>
            <a:ext cx="3571875" cy="3619500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ec-title-2">
            <a:extLst xmlns:a="http://schemas.openxmlformats.org/drawingml/2006/main">
              <a:ext uri="{FF2B5EF4-FFF2-40B4-BE49-F238E27FC236}">
                <a16:creationId xmlns:a16="http://schemas.microsoft.com/office/drawing/2014/main" id="{1E146C19-91E5-46ED-8C58-0F80536B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790700"/>
            <a:ext cx="295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Fix regional friction</a:t>
            </a:r>
          </a:p>
        </p:txBody>
      </p:sp>
      <p:sp>
        <p:nvSpPr>
          <p:cNvPr id="10" name="rec-body-2">
            <a:extLst xmlns:a="http://schemas.openxmlformats.org/drawingml/2006/main">
              <a:ext uri="{FF2B5EF4-FFF2-40B4-BE49-F238E27FC236}">
                <a16:creationId xmlns:a16="http://schemas.microsoft.com/office/drawing/2014/main" id="{3868B3F8-B2EB-4ED9-8C75-B14254D1A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14625"/>
            <a:ext cx="2952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Prioritize MA, CE, BA and PA diagnostics</a:t>
            </a:r>
          </a:p>
          <a:p xmlns:a="http://schemas.openxmlformats.org/drawingml/2006/main">
            <a:pPr algn="l">
              <a:defRPr sz="1350" b="0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Compare fulfilment routes and seller coverage</a:t>
            </a:r>
          </a:p>
          <a:p xmlns:a="http://schemas.openxmlformats.org/drawingml/2006/main">
            <a:pPr algn="l">
              <a:defRPr sz="1350" b="0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Track freight burden alongside service levels</a:t>
            </a:r>
          </a:p>
        </p:txBody>
      </p:sp>
      <p:sp>
        <p:nvSpPr>
          <p:cNvPr id="11" name="rec-dot-2">
            <a:extLst xmlns:a="http://schemas.openxmlformats.org/drawingml/2006/main">
              <a:ext uri="{FF2B5EF4-FFF2-40B4-BE49-F238E27FC236}">
                <a16:creationId xmlns:a16="http://schemas.microsoft.com/office/drawing/2014/main" id="{CB6A1918-5F0E-4628-AE5E-396B45F8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2863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rec-label-2">
            <a:extLst xmlns:a="http://schemas.openxmlformats.org/drawingml/2006/main">
              <a:ext uri="{FF2B5EF4-FFF2-40B4-BE49-F238E27FC236}">
                <a16:creationId xmlns:a16="http://schemas.microsoft.com/office/drawing/2014/main" id="{1CF6B2B7-147B-42C0-ADDF-EB2D52A32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600700"/>
            <a:ext cx="26003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NEXT</a:t>
            </a:r>
          </a:p>
        </p:txBody>
      </p:sp>
      <p:sp>
        <p:nvSpPr>
          <p:cNvPr id="13" name="rec-panel-3">
            <a:extLst xmlns:a="http://schemas.openxmlformats.org/drawingml/2006/main">
              <a:ext uri="{FF2B5EF4-FFF2-40B4-BE49-F238E27FC236}">
                <a16:creationId xmlns:a16="http://schemas.microsoft.com/office/drawing/2014/main" id="{833B520A-CCFC-43F9-8B15-0E0F2E1D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00175"/>
            <a:ext cx="3571875" cy="3619500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ec-title-3">
            <a:extLst xmlns:a="http://schemas.openxmlformats.org/drawingml/2006/main">
              <a:ext uri="{FF2B5EF4-FFF2-40B4-BE49-F238E27FC236}">
                <a16:creationId xmlns:a16="http://schemas.microsoft.com/office/drawing/2014/main" id="{DCF4935E-6686-4A2B-887B-8CCFE2F45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790700"/>
            <a:ext cx="295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Build the retention loop</a:t>
            </a:r>
          </a:p>
        </p:txBody>
      </p:sp>
      <p:sp>
        <p:nvSpPr>
          <p:cNvPr id="15" name="rec-body-3">
            <a:extLst xmlns:a="http://schemas.openxmlformats.org/drawingml/2006/main">
              <a:ext uri="{FF2B5EF4-FFF2-40B4-BE49-F238E27FC236}">
                <a16:creationId xmlns:a16="http://schemas.microsoft.com/office/drawing/2014/main" id="{D1868658-A546-497E-83C6-D3F5FFBB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714625"/>
            <a:ext cx="2952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Recover low-rating customers after delivery</a:t>
            </a:r>
          </a:p>
          <a:p xmlns:a="http://schemas.openxmlformats.org/drawingml/2006/main">
            <a:pPr algn="l">
              <a:defRPr sz="1350" b="0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Test category-specific repeat offers</a:t>
            </a:r>
          </a:p>
          <a:p xmlns:a="http://schemas.openxmlformats.org/drawingml/2006/main">
            <a:pPr algn="l">
              <a:defRPr sz="1350" b="0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Monitor repeat cohorts and satisfaction together</a:t>
            </a:r>
          </a:p>
        </p:txBody>
      </p:sp>
      <p:sp>
        <p:nvSpPr>
          <p:cNvPr id="16" name="rec-dot-3">
            <a:extLst xmlns:a="http://schemas.openxmlformats.org/drawingml/2006/main">
              <a:ext uri="{FF2B5EF4-FFF2-40B4-BE49-F238E27FC236}">
                <a16:creationId xmlns:a16="http://schemas.microsoft.com/office/drawing/2014/main" id="{5AABF56C-2110-41A9-AEA2-88949D69F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2863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7" name="rec-label-3">
            <a:extLst xmlns:a="http://schemas.openxmlformats.org/drawingml/2006/main">
              <a:ext uri="{FF2B5EF4-FFF2-40B4-BE49-F238E27FC236}">
                <a16:creationId xmlns:a16="http://schemas.microsoft.com/office/drawing/2014/main" id="{E96F38FB-5BFA-493B-931B-B8A50CFC6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600700"/>
            <a:ext cx="26003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THEN</a:t>
            </a:r>
          </a:p>
        </p:txBody>
      </p:sp>
      <p:sp>
        <p:nvSpPr>
          <p:cNvPr id="18" name="source-7">
            <a:extLst xmlns:a="http://schemas.openxmlformats.org/drawingml/2006/main">
              <a:ext uri="{FF2B5EF4-FFF2-40B4-BE49-F238E27FC236}">
                <a16:creationId xmlns:a16="http://schemas.microsoft.com/office/drawing/2014/main" id="{E6FEA2CC-5DD9-488A-930C-99285ADC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4365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Source: Olist public dataset; analysis by Hisham Siddiqui</a:t>
            </a:r>
          </a:p>
        </p:txBody>
      </p:sp>
      <p:sp>
        <p:nvSpPr>
          <p:cNvPr id="19" name="page-7">
            <a:extLst xmlns:a="http://schemas.openxmlformats.org/drawingml/2006/main">
              <a:ext uri="{FF2B5EF4-FFF2-40B4-BE49-F238E27FC236}">
                <a16:creationId xmlns:a16="http://schemas.microsoft.com/office/drawing/2014/main" id="{965255B2-4DF9-43DE-A078-4CB04F847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9868769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CA39976-B1B2-4BAF-A13A-C70B3071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5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Methodology keeps the conclusions precise and interview-defensible</a:t>
            </a:r>
          </a:p>
        </p:txBody>
      </p:sp>
      <p:sp>
        <p:nvSpPr>
          <p:cNvPr id="2" name="method-left-title">
            <a:extLst xmlns:a="http://schemas.openxmlformats.org/drawingml/2006/main">
              <a:ext uri="{FF2B5EF4-FFF2-40B4-BE49-F238E27FC236}">
                <a16:creationId xmlns:a16="http://schemas.microsoft.com/office/drawing/2014/main" id="{8B7712BA-2556-4BFA-80D9-D88BB73E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1925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Analysis design</a:t>
            </a:r>
          </a:p>
        </p:txBody>
      </p:sp>
      <p:sp>
        <p:nvSpPr>
          <p:cNvPr id="3" name="method-left">
            <a:extLst xmlns:a="http://schemas.openxmlformats.org/drawingml/2006/main">
              <a:ext uri="{FF2B5EF4-FFF2-40B4-BE49-F238E27FC236}">
                <a16:creationId xmlns:a16="http://schemas.microsoft.com/office/drawing/2014/main" id="{D59D5EC9-3FB2-48D9-B1AB-2D52D385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238375"/>
            <a:ext cx="5143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Nine-table relational dataset</a:t>
            </a:r>
          </a:p>
          <a:p xmlns:a="http://schemas.openxmlformats.org/drawingml/2006/main">
            <a:pPr algn="l">
              <a:defRPr sz="1500" b="0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96,470 delivered orders with item records</a:t>
            </a:r>
          </a:p>
          <a:p xmlns:a="http://schemas.openxmlformats.org/drawingml/2006/main">
            <a:pPr algn="l">
              <a:defRPr sz="1500" b="0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Latest review retained per order</a:t>
            </a:r>
          </a:p>
          <a:p xmlns:a="http://schemas.openxmlformats.org/drawingml/2006/main">
            <a:pPr algn="l">
              <a:defRPr sz="1500" b="0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Order-, seller-, state- and category-level analysis</a:t>
            </a:r>
          </a:p>
          <a:p xmlns:a="http://schemas.openxmlformats.org/drawingml/2006/main">
            <a:pPr algn="l">
              <a:defRPr sz="1500" b="0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Complete monthly trend: Jan 2017-Aug 2018</a:t>
            </a:r>
          </a:p>
        </p:txBody>
      </p:sp>
      <p:sp>
        <p:nvSpPr>
          <p:cNvPr id="4" name="method-right-title">
            <a:extLst xmlns:a="http://schemas.openxmlformats.org/drawingml/2006/main">
              <a:ext uri="{FF2B5EF4-FFF2-40B4-BE49-F238E27FC236}">
                <a16:creationId xmlns:a16="http://schemas.microsoft.com/office/drawing/2014/main" id="{E857AE34-19F5-4B85-8C10-5F75FFF0A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619250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Definitions and caveats</a:t>
            </a:r>
          </a:p>
        </p:txBody>
      </p:sp>
      <p:sp>
        <p:nvSpPr>
          <p:cNvPr id="5" name="method-right">
            <a:extLst xmlns:a="http://schemas.openxmlformats.org/drawingml/2006/main">
              <a:ext uri="{FF2B5EF4-FFF2-40B4-BE49-F238E27FC236}">
                <a16:creationId xmlns:a16="http://schemas.microsoft.com/office/drawing/2014/main" id="{9A0C0A98-1DE4-4CAA-8E9F-7468EE328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38375"/>
            <a:ext cx="5334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Late = delivered after promised calendar date</a:t>
            </a:r>
          </a:p>
          <a:p xmlns:a="http://schemas.openxmlformats.org/drawingml/2006/main">
            <a:pPr algn="l">
              <a:defRPr sz="1500" b="0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Low review = score of 1 or 2</a:t>
            </a:r>
          </a:p>
          <a:p xmlns:a="http://schemas.openxmlformats.org/drawingml/2006/main">
            <a:pPr algn="l">
              <a:defRPr sz="1500" b="0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GMV = item price, not Olist revenue or profit</a:t>
            </a:r>
          </a:p>
          <a:p xmlns:a="http://schemas.openxmlformats.org/drawingml/2006/main">
            <a:pPr algn="l">
              <a:defRPr sz="1500" b="0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Multi-seller orders do not prove seller causality</a:t>
            </a:r>
          </a:p>
          <a:p xmlns:a="http://schemas.openxmlformats.org/drawingml/2006/main">
            <a:pPr algn="l">
              <a:defRPr sz="1500" b="0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Observed relationships guide prioritization; they do not prove causality</a:t>
            </a:r>
          </a:p>
        </p:txBody>
      </p:sp>
      <p:cxnSp>
        <p:nvCxnSpPr>
          <p:cNvPr id="15" name="method-divider"/>
          <p:cNvCxnSpPr/>
          <p:nvPr/>
        </p:nvCxnSpPr>
        <p:spPr>
          <a:xfrm xmlns:a="http://schemas.openxmlformats.org/drawingml/2006/main">
            <a:off x="5905500" y="1571625"/>
            <a:ext cx="0" cy="40005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7" name="method-close">
            <a:extLst xmlns:a="http://schemas.openxmlformats.org/drawingml/2006/main">
              <a:ext uri="{FF2B5EF4-FFF2-40B4-BE49-F238E27FC236}">
                <a16:creationId xmlns:a16="http://schemas.microsoft.com/office/drawing/2014/main" id="{D1921E84-0702-4707-B876-202A9741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61975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56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The project answers a business question with SQL-backed evidence—not a dashboard in search of a problem.</a:t>
            </a:r>
          </a:p>
        </p:txBody>
      </p:sp>
      <p:sp>
        <p:nvSpPr>
          <p:cNvPr id="8" name="source-8">
            <a:extLst xmlns:a="http://schemas.openxmlformats.org/drawingml/2006/main">
              <a:ext uri="{FF2B5EF4-FFF2-40B4-BE49-F238E27FC236}">
                <a16:creationId xmlns:a16="http://schemas.microsoft.com/office/drawing/2014/main" id="{77ADC1AA-D02F-488B-A2FF-F608666D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4365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Source: Olist public dataset; analysis by Hisham Siddiqui</a:t>
            </a:r>
          </a:p>
        </p:txBody>
      </p:sp>
      <p:sp>
        <p:nvSpPr>
          <p:cNvPr id="9" name="page-8">
            <a:extLst xmlns:a="http://schemas.openxmlformats.org/drawingml/2006/main">
              <a:ext uri="{FF2B5EF4-FFF2-40B4-BE49-F238E27FC236}">
                <a16:creationId xmlns:a16="http://schemas.microsoft.com/office/drawing/2014/main" id="{059F438A-D186-4241-855D-CCD2E4B41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0244015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2026-08-01T11:22:31.1030000Z</dcterms:created>
  <dcterms:modified xsi:type="dcterms:W3CDTF">2026-08-01T11:22:31.1030000Z</dcterms:modified>
</coreProperties>
</file>